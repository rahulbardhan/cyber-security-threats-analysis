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1" r:id="rId10"/>
    <p:sldId id="582"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95" d="100"/>
          <a:sy n="95" d="100"/>
        </p:scale>
        <p:origin x="178"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13-03-2026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power-bi/" TargetMode="External"/><Relationship Id="rId2" Type="http://schemas.openxmlformats.org/officeDocument/2006/relationships/hyperlink" Target="https://www.kaggle.com/datasets/atharvasoundankar/global-cybersecurity-threats-2015-2024" TargetMode="External"/><Relationship Id="rId1" Type="http://schemas.openxmlformats.org/officeDocument/2006/relationships/slideLayout" Target="../slideLayouts/slideLayout3.xml"/><Relationship Id="rId5" Type="http://schemas.openxmlformats.org/officeDocument/2006/relationships/hyperlink" Target="https://github.com/rahulbardhan/Cyber-Security-Threats-Analysis/tree/main" TargetMode="External"/><Relationship Id="rId4" Type="http://schemas.openxmlformats.org/officeDocument/2006/relationships/hyperlink" Target="https://drive.google.com/drive/folders/17Bws-aiBggOd7uPMhQPIsc81S89qONZs?usp=sharing"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17897"/>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dirty="0"/>
              <a:t>Cyber Security Threats Analysis</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48127"/>
            <a:ext cx="4702681"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b="1" cap="all" dirty="0" err="1"/>
              <a:t>RaHUL</a:t>
            </a:r>
            <a:r>
              <a:rPr lang="en-US" sz="1600" b="1" cap="all" dirty="0"/>
              <a:t> </a:t>
            </a:r>
            <a:r>
              <a:rPr lang="en-US" sz="1600" b="1" cap="all" dirty="0" err="1"/>
              <a:t>BarDHAN</a:t>
            </a:r>
            <a:endParaRPr lang="en-US" sz="1600" b="1" cap="all" dirty="0"/>
          </a:p>
          <a:p>
            <a:pPr algn="l">
              <a:spcAft>
                <a:spcPts val="600"/>
              </a:spcAft>
            </a:pPr>
            <a:r>
              <a:rPr lang="en-US" sz="1600" b="1" cap="all" dirty="0"/>
              <a:t>College Name: Central institute of technology </a:t>
            </a:r>
            <a:r>
              <a:rPr lang="en-US" sz="1600" b="1" cap="all" dirty="0" err="1"/>
              <a:t>kokrajhar</a:t>
            </a:r>
            <a:endParaRPr lang="en-US" sz="1600" b="1" cap="all" dirty="0"/>
          </a:p>
          <a:p>
            <a:pPr algn="l">
              <a:spcAft>
                <a:spcPts val="600"/>
              </a:spcAft>
            </a:pPr>
            <a:r>
              <a:rPr lang="en-US" sz="1600" b="1" cap="all" dirty="0"/>
              <a:t>Department: computer science and engineering</a:t>
            </a:r>
          </a:p>
          <a:p>
            <a:pPr algn="l">
              <a:spcAft>
                <a:spcPts val="600"/>
              </a:spcAft>
            </a:pPr>
            <a:r>
              <a:rPr lang="en-US" sz="1600" b="1" cap="all" dirty="0"/>
              <a:t>Email ID: rahulbardhan285@gmail.com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230453" y="754636"/>
            <a:ext cx="4590784" cy="4686606"/>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Dashboard Development and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000" dirty="0"/>
              <a:t>Rapid </a:t>
            </a:r>
            <a:r>
              <a:rPr lang="en-US" sz="2000" b="1" dirty="0"/>
              <a:t>digital transformation</a:t>
            </a:r>
            <a:r>
              <a:rPr lang="en-US" sz="2000" dirty="0"/>
              <a:t> has increased global cyberattacks.</a:t>
            </a:r>
          </a:p>
          <a:p>
            <a:r>
              <a:rPr lang="en-IN" sz="2000" dirty="0"/>
              <a:t>Cause </a:t>
            </a:r>
            <a:r>
              <a:rPr lang="en-IN" sz="2000" b="1" dirty="0"/>
              <a:t>massive financial losses, data breaches, and service disruptions</a:t>
            </a:r>
            <a:r>
              <a:rPr lang="en-IN" sz="2000" dirty="0"/>
              <a:t>.</a:t>
            </a:r>
          </a:p>
          <a:p>
            <a:r>
              <a:rPr lang="en-IN" sz="2000" dirty="0"/>
              <a:t>Organizations struggle to :</a:t>
            </a:r>
          </a:p>
          <a:p>
            <a:pPr lvl="1">
              <a:buFontTx/>
              <a:buChar char="-"/>
            </a:pPr>
            <a:r>
              <a:rPr lang="en-IN" sz="1800" dirty="0"/>
              <a:t>Track </a:t>
            </a:r>
            <a:r>
              <a:rPr lang="en-IN" sz="1800" b="1" dirty="0"/>
              <a:t>evolving attack patterns</a:t>
            </a:r>
          </a:p>
          <a:p>
            <a:pPr lvl="1">
              <a:buFontTx/>
              <a:buChar char="-"/>
            </a:pPr>
            <a:r>
              <a:rPr lang="en-US" sz="1800" dirty="0"/>
              <a:t>Identify </a:t>
            </a:r>
            <a:r>
              <a:rPr lang="en-US" sz="1800" b="1" dirty="0"/>
              <a:t>high-risk countries and industries</a:t>
            </a:r>
          </a:p>
          <a:p>
            <a:pPr lvl="1">
              <a:buFontTx/>
              <a:buChar char="-"/>
            </a:pPr>
            <a:r>
              <a:rPr lang="en-US" sz="1800" dirty="0"/>
              <a:t>Analyze </a:t>
            </a:r>
            <a:r>
              <a:rPr lang="en-US" sz="1800" b="1" dirty="0"/>
              <a:t>attack severity and response time.</a:t>
            </a:r>
            <a:endParaRPr lang="en-IN" dirty="0"/>
          </a:p>
          <a:p>
            <a:r>
              <a:rPr lang="en-US" sz="2000" dirty="0"/>
              <a:t>Lack of </a:t>
            </a:r>
            <a:r>
              <a:rPr lang="en-US" sz="2000" b="1" dirty="0"/>
              <a:t>interactive visual analytics platforms</a:t>
            </a:r>
            <a:r>
              <a:rPr lang="en-US" sz="2000" dirty="0"/>
              <a:t> makes :</a:t>
            </a:r>
          </a:p>
          <a:p>
            <a:pPr marL="457200" lvl="1" indent="0">
              <a:buNone/>
            </a:pPr>
            <a:r>
              <a:rPr lang="en-US" sz="1800" dirty="0"/>
              <a:t>-  </a:t>
            </a:r>
            <a:r>
              <a:rPr lang="en-IN" sz="1800" dirty="0"/>
              <a:t>Threat monitoring difficult</a:t>
            </a:r>
            <a:br>
              <a:rPr lang="en-IN" sz="1800" dirty="0"/>
            </a:br>
            <a:r>
              <a:rPr lang="en-IN" sz="1800" dirty="0"/>
              <a:t>- Trend analysis inefficient</a:t>
            </a:r>
            <a:br>
              <a:rPr lang="en-IN" sz="1800" dirty="0"/>
            </a:br>
            <a:r>
              <a:rPr lang="en-IN" sz="1800" dirty="0"/>
              <a:t>- Strategic decision-making slow.</a:t>
            </a:r>
            <a:endParaRPr lang="en-US" sz="1800" dirty="0"/>
          </a:p>
          <a:p>
            <a:r>
              <a:rPr lang="en-US" sz="2000" dirty="0"/>
              <a:t>Result : Systems remain </a:t>
            </a:r>
            <a:r>
              <a:rPr lang="en-US" sz="2000" b="1" dirty="0"/>
              <a:t>vulnerable to emerging cyber threats</a:t>
            </a:r>
            <a:r>
              <a:rPr lang="en-US" sz="2000" dirty="0"/>
              <a:t>.</a:t>
            </a:r>
            <a:endParaRPr lang="en-US" sz="18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32610" y="1227221"/>
            <a:ext cx="11028947" cy="5149516"/>
          </a:xfrm>
        </p:spPr>
        <p:txBody>
          <a:bodyPr vert="horz" lIns="91440" tIns="45720" rIns="91440" bIns="45720" rtlCol="0" anchor="t">
            <a:noAutofit/>
          </a:bodyPr>
          <a:lstStyle/>
          <a:p>
            <a:pPr marL="0" indent="0">
              <a:spcBef>
                <a:spcPct val="20000"/>
              </a:spcBef>
              <a:spcAft>
                <a:spcPts val="600"/>
              </a:spcAft>
              <a:buNone/>
            </a:pPr>
            <a:r>
              <a:rPr lang="en-US" sz="1600" dirty="0"/>
              <a:t>The proposed system is an interactive Power BI "</a:t>
            </a:r>
            <a:r>
              <a:rPr lang="en-US" sz="1600" b="1" dirty="0"/>
              <a:t>Global Cybersecurity Attack Analysis Dashboard</a:t>
            </a:r>
            <a:r>
              <a:rPr lang="en-US" sz="1600" dirty="0"/>
              <a:t>" that transforms raw </a:t>
            </a:r>
            <a:r>
              <a:rPr lang="en-US" sz="1600" b="1" dirty="0"/>
              <a:t>Global cybersecurity Threats (2015–2024) </a:t>
            </a:r>
            <a:r>
              <a:rPr lang="en-US" sz="1600" dirty="0"/>
              <a:t>into actionable visual insights.</a:t>
            </a:r>
          </a:p>
          <a:p>
            <a:pPr marL="0" indent="0">
              <a:spcBef>
                <a:spcPct val="20000"/>
              </a:spcBef>
              <a:spcAft>
                <a:spcPts val="600"/>
              </a:spcAft>
              <a:buNone/>
            </a:pPr>
            <a:r>
              <a:rPr lang="en-US" sz="1600" b="1" dirty="0"/>
              <a:t>#      This solution consists of the following dataset components :</a:t>
            </a:r>
            <a:endParaRPr lang="en-IN" sz="1600" b="1" dirty="0">
              <a:latin typeface="Calibri"/>
              <a:ea typeface="Calibri"/>
              <a:cs typeface="Calibri"/>
            </a:endParaRPr>
          </a:p>
          <a:p>
            <a:pPr>
              <a:spcBef>
                <a:spcPct val="20000"/>
              </a:spcBef>
              <a:spcAft>
                <a:spcPts val="600"/>
              </a:spcAft>
            </a:pPr>
            <a:r>
              <a:rPr lang="en-IN" sz="1600" b="1" dirty="0"/>
              <a:t>Data Collection : </a:t>
            </a:r>
          </a:p>
          <a:p>
            <a:pPr marL="0" indent="0">
              <a:spcBef>
                <a:spcPct val="20000"/>
              </a:spcBef>
              <a:spcAft>
                <a:spcPts val="600"/>
              </a:spcAft>
              <a:buNone/>
            </a:pPr>
            <a:r>
              <a:rPr lang="en-US" sz="1600" dirty="0"/>
              <a:t>        -          Kaggle dataset “</a:t>
            </a:r>
            <a:r>
              <a:rPr lang="en-US" sz="1600" b="1" dirty="0"/>
              <a:t>Global Cybersecurity Threats (2015–2024)”.</a:t>
            </a:r>
            <a:endParaRPr lang="en-IN" sz="1600" dirty="0">
              <a:latin typeface="Calibri"/>
              <a:ea typeface="Calibri"/>
              <a:cs typeface="Calibri"/>
            </a:endParaRPr>
          </a:p>
          <a:p>
            <a:pPr marL="324485" lvl="1" indent="0">
              <a:spcBef>
                <a:spcPct val="20000"/>
              </a:spcBef>
              <a:spcAft>
                <a:spcPts val="600"/>
              </a:spcAft>
              <a:buNone/>
            </a:pPr>
            <a:r>
              <a:rPr lang="en-IN" sz="1600" dirty="0"/>
              <a:t>-          Contains Attributes like Country, Threat type, Industry, Financial Impact, Severity Level, Response time.</a:t>
            </a:r>
            <a:endParaRPr lang="en-IN" sz="1600" dirty="0">
              <a:latin typeface="Calibri"/>
              <a:ea typeface="Calibri"/>
              <a:cs typeface="Calibri"/>
            </a:endParaRPr>
          </a:p>
          <a:p>
            <a:pPr marL="305435" indent="-305435">
              <a:spcBef>
                <a:spcPct val="20000"/>
              </a:spcBef>
              <a:spcAft>
                <a:spcPts val="600"/>
              </a:spcAft>
              <a:buFont typeface="Arial"/>
              <a:buChar char="•"/>
            </a:pPr>
            <a:r>
              <a:rPr lang="en-IN" sz="1600" b="1" dirty="0">
                <a:latin typeface="Calibri"/>
                <a:ea typeface="Calibri"/>
                <a:cs typeface="Calibri"/>
              </a:rPr>
              <a:t>Data Preprocessing :</a:t>
            </a:r>
            <a:endParaRPr lang="en-IN" sz="1600" dirty="0">
              <a:latin typeface="Calibri"/>
              <a:ea typeface="Calibri"/>
              <a:cs typeface="Calibri"/>
            </a:endParaRPr>
          </a:p>
          <a:p>
            <a:pPr marL="324485" lvl="1" indent="0">
              <a:spcBef>
                <a:spcPct val="20000"/>
              </a:spcBef>
              <a:spcAft>
                <a:spcPts val="600"/>
              </a:spcAft>
              <a:buNone/>
            </a:pPr>
            <a:r>
              <a:rPr lang="en-IN" sz="1600" b="1" dirty="0">
                <a:latin typeface="Calibri"/>
                <a:ea typeface="Calibri"/>
                <a:cs typeface="Calibri"/>
              </a:rPr>
              <a:t>-        </a:t>
            </a:r>
            <a:r>
              <a:rPr lang="en-IN" sz="1600" dirty="0">
                <a:latin typeface="Calibri"/>
                <a:ea typeface="Calibri"/>
                <a:cs typeface="Calibri"/>
              </a:rPr>
              <a:t>Cleaning and transform the collected data using </a:t>
            </a:r>
            <a:r>
              <a:rPr lang="en-IN" sz="1600" b="1" dirty="0">
                <a:latin typeface="Calibri"/>
                <a:ea typeface="Calibri"/>
                <a:cs typeface="Calibri"/>
              </a:rPr>
              <a:t>Power Query </a:t>
            </a:r>
            <a:r>
              <a:rPr lang="en-IN" sz="1600" dirty="0">
                <a:latin typeface="Calibri"/>
                <a:ea typeface="Calibri"/>
                <a:cs typeface="Calibri"/>
              </a:rPr>
              <a:t>to handle missing values, outliers and inconsistencies.</a:t>
            </a:r>
          </a:p>
          <a:p>
            <a:pPr marL="324485" lvl="1" indent="0">
              <a:spcBef>
                <a:spcPct val="20000"/>
              </a:spcBef>
              <a:spcAft>
                <a:spcPts val="600"/>
              </a:spcAft>
              <a:buNone/>
            </a:pPr>
            <a:r>
              <a:rPr lang="en-IN" sz="1600" b="1" dirty="0">
                <a:latin typeface="Calibri"/>
                <a:ea typeface="Calibri"/>
                <a:cs typeface="Calibri"/>
              </a:rPr>
              <a:t>-        </a:t>
            </a:r>
            <a:r>
              <a:rPr lang="en-IN" sz="1600" dirty="0">
                <a:latin typeface="Calibri"/>
                <a:ea typeface="Calibri"/>
                <a:cs typeface="Calibri"/>
              </a:rPr>
              <a:t>Feature engineering to extract relevant features from the data that might impact using</a:t>
            </a:r>
            <a:r>
              <a:rPr lang="en-IN" sz="1600" b="1" dirty="0">
                <a:latin typeface="Calibri"/>
                <a:ea typeface="Calibri"/>
                <a:cs typeface="Calibri"/>
              </a:rPr>
              <a:t> Power Query.</a:t>
            </a:r>
            <a:endParaRPr lang="en-IN" sz="1600" dirty="0">
              <a:latin typeface="Calibri"/>
              <a:ea typeface="Calibri"/>
              <a:cs typeface="Calibri"/>
            </a:endParaRPr>
          </a:p>
          <a:p>
            <a:pPr marL="305435" indent="-305435">
              <a:spcBef>
                <a:spcPct val="20000"/>
              </a:spcBef>
              <a:spcAft>
                <a:spcPts val="600"/>
              </a:spcAft>
              <a:buFont typeface="Arial"/>
              <a:buChar char="•"/>
            </a:pPr>
            <a:r>
              <a:rPr lang="en-IN" sz="1600" b="1" dirty="0"/>
              <a:t>Dashboard Development :</a:t>
            </a:r>
            <a:endParaRPr lang="en-IN" sz="1600" b="1" dirty="0">
              <a:latin typeface="Calibri"/>
              <a:ea typeface="Calibri"/>
              <a:cs typeface="Calibri"/>
            </a:endParaRPr>
          </a:p>
          <a:p>
            <a:pPr marL="324485" lvl="1" indent="0">
              <a:spcBef>
                <a:spcPct val="20000"/>
              </a:spcBef>
              <a:spcAft>
                <a:spcPts val="600"/>
              </a:spcAft>
              <a:buNone/>
            </a:pPr>
            <a:r>
              <a:rPr lang="en-IN" sz="1600" b="1" dirty="0"/>
              <a:t>-      </a:t>
            </a:r>
            <a:r>
              <a:rPr lang="en-IN" sz="1600" dirty="0"/>
              <a:t>   Developing Multi-page interactive dashboards</a:t>
            </a:r>
            <a:endParaRPr lang="en-IN" sz="1600" dirty="0">
              <a:latin typeface="Calibri"/>
              <a:ea typeface="Calibri"/>
              <a:cs typeface="Calibri"/>
            </a:endParaRPr>
          </a:p>
          <a:p>
            <a:pPr marL="324485" lvl="1" indent="0">
              <a:spcBef>
                <a:spcPct val="20000"/>
              </a:spcBef>
              <a:spcAft>
                <a:spcPts val="600"/>
              </a:spcAft>
              <a:buNone/>
            </a:pPr>
            <a:r>
              <a:rPr lang="en-IN" sz="1600" b="1" dirty="0"/>
              <a:t>-    </a:t>
            </a:r>
            <a:r>
              <a:rPr lang="en-IN" sz="1600" dirty="0"/>
              <a:t>     using </a:t>
            </a:r>
            <a:r>
              <a:rPr lang="en-IN" sz="1600" b="1" dirty="0"/>
              <a:t>Visuals</a:t>
            </a:r>
            <a:r>
              <a:rPr lang="en-IN" sz="1600" dirty="0"/>
              <a:t> like </a:t>
            </a:r>
            <a:r>
              <a:rPr lang="en-IN" sz="1600" b="1" dirty="0"/>
              <a:t>Maps, </a:t>
            </a:r>
            <a:r>
              <a:rPr lang="en-IN" sz="1600" b="1" dirty="0" err="1"/>
              <a:t>Treemaps</a:t>
            </a:r>
            <a:r>
              <a:rPr lang="en-IN" sz="1600" b="1" dirty="0"/>
              <a:t>, Decomposition Trees</a:t>
            </a:r>
            <a:r>
              <a:rPr lang="en-IN" sz="1600" dirty="0"/>
              <a:t> and </a:t>
            </a:r>
            <a:r>
              <a:rPr lang="en-IN" sz="1600" b="1" dirty="0"/>
              <a:t>KPIs</a:t>
            </a:r>
            <a:r>
              <a:rPr lang="en-IN" sz="1600" dirty="0"/>
              <a:t> with </a:t>
            </a:r>
            <a:r>
              <a:rPr lang="en-US" sz="1600" b="1" dirty="0"/>
              <a:t>DAX </a:t>
            </a:r>
            <a:r>
              <a:rPr lang="en-US" sz="1600" dirty="0"/>
              <a:t>measures and AI insights.</a:t>
            </a:r>
            <a:endParaRPr lang="en-IN" sz="1600" dirty="0">
              <a:latin typeface="Calibri"/>
              <a:ea typeface="Calibri"/>
              <a:cs typeface="Calibri"/>
            </a:endParaRPr>
          </a:p>
          <a:p>
            <a:pPr marL="305435" indent="-305435">
              <a:spcBef>
                <a:spcPct val="20000"/>
              </a:spcBef>
              <a:spcAft>
                <a:spcPts val="600"/>
              </a:spcAft>
              <a:buFont typeface="Arial"/>
              <a:buChar char="•"/>
            </a:pPr>
            <a:r>
              <a:rPr lang="en-IN" sz="1600" b="1" dirty="0">
                <a:latin typeface="Calibri"/>
                <a:ea typeface="Calibri"/>
                <a:cs typeface="Calibri"/>
              </a:rPr>
              <a:t>Deployment :</a:t>
            </a:r>
          </a:p>
          <a:p>
            <a:pPr marL="0" indent="0">
              <a:spcBef>
                <a:spcPct val="20000"/>
              </a:spcBef>
              <a:spcAft>
                <a:spcPts val="600"/>
              </a:spcAft>
              <a:buNone/>
            </a:pPr>
            <a:r>
              <a:rPr lang="en-IN" sz="1600" b="1" dirty="0">
                <a:latin typeface="Calibri"/>
                <a:ea typeface="Calibri"/>
                <a:cs typeface="Calibri"/>
              </a:rPr>
              <a:t>         -        </a:t>
            </a:r>
            <a:r>
              <a:rPr lang="en-US" sz="1600" dirty="0"/>
              <a:t>Publishing to Power BI Service with Row-Level Security (Data Level) enabled and natural-language Q&amp;A.</a:t>
            </a:r>
            <a:endParaRPr lang="en-IN" sz="1600" b="1" dirty="0">
              <a:latin typeface="Calibri"/>
              <a:ea typeface="Calibri"/>
              <a:cs typeface="Calibri"/>
            </a:endParaRPr>
          </a:p>
          <a:p>
            <a:pPr marL="305435" indent="-305435">
              <a:spcBef>
                <a:spcPct val="20000"/>
              </a:spcBef>
              <a:spcAft>
                <a:spcPts val="600"/>
              </a:spcAft>
              <a:buFont typeface="Arial"/>
              <a:buChar char="•"/>
            </a:pPr>
            <a:r>
              <a:rPr lang="en-IN" sz="1600" b="1" dirty="0">
                <a:latin typeface="Calibri"/>
                <a:ea typeface="Calibri"/>
                <a:cs typeface="Calibri"/>
              </a:rPr>
              <a:t>Evaluation :</a:t>
            </a:r>
          </a:p>
          <a:p>
            <a:pPr marL="0" indent="0">
              <a:spcBef>
                <a:spcPct val="20000"/>
              </a:spcBef>
              <a:spcAft>
                <a:spcPts val="600"/>
              </a:spcAft>
              <a:buNone/>
            </a:pPr>
            <a:r>
              <a:rPr lang="en-IN" sz="1600" b="1" dirty="0">
                <a:latin typeface="Calibri"/>
                <a:ea typeface="Calibri"/>
                <a:cs typeface="Calibri"/>
              </a:rPr>
              <a:t>         -       </a:t>
            </a:r>
            <a:r>
              <a:rPr lang="en-IN" sz="1600" dirty="0">
                <a:latin typeface="Calibri"/>
                <a:ea typeface="Calibri"/>
                <a:cs typeface="Calibri"/>
              </a:rPr>
              <a:t>Focusing on Interactivity, Performance optimization, </a:t>
            </a:r>
            <a:r>
              <a:rPr lang="en-IN" sz="1600" dirty="0"/>
              <a:t>Insight generation.</a:t>
            </a:r>
            <a:endParaRPr lang="en-IN" sz="1600" b="1" dirty="0">
              <a:latin typeface="Calibri"/>
              <a:ea typeface="Calibri"/>
              <a:cs typeface="Calibri"/>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Development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a:spcBef>
                <a:spcPct val="20000"/>
              </a:spcBef>
              <a:spcAft>
                <a:spcPts val="600"/>
              </a:spcAft>
            </a:pPr>
            <a:r>
              <a:rPr lang="en-US" sz="2000" b="1" dirty="0"/>
              <a:t>System Requirements :</a:t>
            </a:r>
            <a:r>
              <a:rPr lang="en-US" sz="2000" dirty="0"/>
              <a:t> </a:t>
            </a:r>
          </a:p>
          <a:p>
            <a:pPr marL="0" indent="0">
              <a:spcBef>
                <a:spcPct val="20000"/>
              </a:spcBef>
              <a:spcAft>
                <a:spcPts val="600"/>
              </a:spcAft>
              <a:buNone/>
            </a:pPr>
            <a:r>
              <a:rPr lang="en-US" sz="2000" dirty="0"/>
              <a:t>    </a:t>
            </a:r>
            <a:r>
              <a:rPr lang="en-US" sz="1800" dirty="0"/>
              <a:t>- Power BI Desktop, CSV dataset (~3000 records), </a:t>
            </a:r>
            <a:r>
              <a:rPr lang="en-IN" sz="1800" dirty="0"/>
              <a:t>Windows / Mac with </a:t>
            </a:r>
            <a:r>
              <a:rPr lang="en-US" sz="1800" dirty="0"/>
              <a:t>Internet access.</a:t>
            </a:r>
          </a:p>
          <a:p>
            <a:pPr marL="0" indent="0">
              <a:spcBef>
                <a:spcPct val="20000"/>
              </a:spcBef>
              <a:spcAft>
                <a:spcPts val="600"/>
              </a:spcAft>
              <a:buNone/>
            </a:pPr>
            <a:endParaRPr lang="en-US" sz="1800" dirty="0"/>
          </a:p>
          <a:p>
            <a:pPr>
              <a:spcBef>
                <a:spcPct val="20000"/>
              </a:spcBef>
              <a:spcAft>
                <a:spcPts val="600"/>
              </a:spcAft>
            </a:pPr>
            <a:r>
              <a:rPr lang="en-IN" sz="2000" b="1" dirty="0"/>
              <a:t>Tools &amp; Technologies used :</a:t>
            </a:r>
          </a:p>
          <a:p>
            <a:pPr marL="0" indent="0">
              <a:spcBef>
                <a:spcPct val="20000"/>
              </a:spcBef>
              <a:spcAft>
                <a:spcPts val="600"/>
              </a:spcAft>
              <a:buNone/>
            </a:pPr>
            <a:r>
              <a:rPr lang="en-IN" sz="2000" dirty="0"/>
              <a:t>    </a:t>
            </a:r>
            <a:r>
              <a:rPr lang="en-GB" sz="1600" dirty="0"/>
              <a:t>- </a:t>
            </a:r>
            <a:r>
              <a:rPr lang="en-US" sz="1800" b="1" dirty="0"/>
              <a:t>Power Query</a:t>
            </a:r>
            <a:r>
              <a:rPr lang="en-US" sz="1800" dirty="0"/>
              <a:t> (ETL &amp; data cleaning, transformation and extraction)</a:t>
            </a:r>
          </a:p>
          <a:p>
            <a:pPr marL="0" indent="0">
              <a:spcBef>
                <a:spcPct val="20000"/>
              </a:spcBef>
              <a:spcAft>
                <a:spcPts val="600"/>
              </a:spcAft>
              <a:buNone/>
            </a:pPr>
            <a:r>
              <a:rPr lang="en-GB" sz="1800" dirty="0"/>
              <a:t>     - </a:t>
            </a:r>
            <a:r>
              <a:rPr lang="en-IN" sz="1800" b="1" dirty="0"/>
              <a:t>DAX</a:t>
            </a:r>
            <a:r>
              <a:rPr lang="en-IN" sz="1800" dirty="0"/>
              <a:t> (custom measures &amp; calculations)</a:t>
            </a:r>
          </a:p>
          <a:p>
            <a:pPr marL="0" indent="0">
              <a:spcBef>
                <a:spcPct val="20000"/>
              </a:spcBef>
              <a:spcAft>
                <a:spcPts val="600"/>
              </a:spcAft>
              <a:buNone/>
            </a:pPr>
            <a:r>
              <a:rPr lang="en-GB" sz="1800" dirty="0"/>
              <a:t>     - </a:t>
            </a:r>
            <a:r>
              <a:rPr lang="en-US" sz="1800" b="1" dirty="0"/>
              <a:t>Power BI Visuals </a:t>
            </a:r>
            <a:r>
              <a:rPr lang="en-US" sz="1800" dirty="0"/>
              <a:t>(Filled Map, </a:t>
            </a:r>
            <a:r>
              <a:rPr lang="en-US" sz="1800" dirty="0" err="1"/>
              <a:t>Treemap</a:t>
            </a:r>
            <a:r>
              <a:rPr lang="en-US" sz="1800" dirty="0"/>
              <a:t>, Decomposition Tree, Gauge, Key Influencers)</a:t>
            </a:r>
          </a:p>
          <a:p>
            <a:pPr marL="0" indent="0">
              <a:spcBef>
                <a:spcPct val="20000"/>
              </a:spcBef>
              <a:spcAft>
                <a:spcPts val="600"/>
              </a:spcAft>
              <a:buNone/>
            </a:pPr>
            <a:r>
              <a:rPr lang="en-GB" sz="1800" dirty="0"/>
              <a:t>     - </a:t>
            </a:r>
            <a:r>
              <a:rPr lang="en-IN" sz="1800" b="1" dirty="0"/>
              <a:t>Microsoft Copilot in Power BI </a:t>
            </a:r>
            <a:r>
              <a:rPr lang="en-IN" sz="1800" dirty="0"/>
              <a:t>(AI design &amp; narrative generation)</a:t>
            </a:r>
          </a:p>
          <a:p>
            <a:pPr marL="0" indent="0">
              <a:spcBef>
                <a:spcPct val="20000"/>
              </a:spcBef>
              <a:spcAft>
                <a:spcPts val="600"/>
              </a:spcAft>
              <a:buNone/>
            </a:pPr>
            <a:r>
              <a:rPr lang="en-GB" sz="1800" dirty="0"/>
              <a:t>     - </a:t>
            </a:r>
            <a:r>
              <a:rPr lang="en-US" sz="1800" b="1" dirty="0"/>
              <a:t>Custom</a:t>
            </a:r>
            <a:r>
              <a:rPr lang="en-US" sz="1800" dirty="0"/>
              <a:t> teal-blue </a:t>
            </a:r>
            <a:r>
              <a:rPr lang="en-US" sz="1800" b="1" dirty="0"/>
              <a:t>theme</a:t>
            </a:r>
            <a:r>
              <a:rPr lang="en-US" sz="1800" dirty="0"/>
              <a:t> (matched from reference GitHub PBIX) with </a:t>
            </a:r>
            <a:r>
              <a:rPr lang="en-IN" sz="1800" dirty="0"/>
              <a:t>modified backgrounds and </a:t>
            </a:r>
          </a:p>
          <a:p>
            <a:pPr marL="0" indent="0">
              <a:spcBef>
                <a:spcPct val="20000"/>
              </a:spcBef>
              <a:spcAft>
                <a:spcPts val="600"/>
              </a:spcAft>
              <a:buNone/>
            </a:pPr>
            <a:r>
              <a:rPr lang="en-IN" sz="1800" dirty="0"/>
              <a:t>        </a:t>
            </a:r>
            <a:r>
              <a:rPr lang="en-US" sz="1800" dirty="0"/>
              <a:t>Row-Level Security enabled.</a:t>
            </a:r>
            <a:endParaRPr lang="en-GB" sz="2400" dirty="0"/>
          </a:p>
          <a:p>
            <a:pPr>
              <a:spcBef>
                <a:spcPct val="20000"/>
              </a:spcBef>
              <a:spcAft>
                <a:spcPts val="600"/>
              </a:spcAft>
            </a:pPr>
            <a:endParaRPr lang="en-GB" sz="2000" dirty="0"/>
          </a:p>
          <a:p>
            <a:pPr>
              <a:spcBef>
                <a:spcPct val="20000"/>
              </a:spcBef>
              <a:spcAft>
                <a:spcPts val="600"/>
              </a:spcAft>
            </a:pPr>
            <a:endParaRPr lang="en-GB" sz="2000" dirty="0"/>
          </a:p>
          <a:p>
            <a:pPr>
              <a:spcBef>
                <a:spcPct val="20000"/>
              </a:spcBef>
              <a:spcAft>
                <a:spcPts val="600"/>
              </a:spcAft>
            </a:pPr>
            <a:endParaRPr lang="en-GB" sz="2000" dirty="0"/>
          </a:p>
          <a:p>
            <a:pPr>
              <a:spcBef>
                <a:spcPct val="20000"/>
              </a:spcBef>
              <a:spcAft>
                <a:spcPts val="600"/>
              </a:spcAft>
            </a:pPr>
            <a:endParaRPr lang="en-GB" sz="20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70999" y="763530"/>
            <a:ext cx="11543486" cy="460417"/>
          </a:xfrm>
        </p:spPr>
        <p:txBody>
          <a:bodyPr lIns="91440" tIns="45720" rIns="91440" bIns="45720" anchor="t">
            <a:noAutofit/>
          </a:bodyPr>
          <a:lstStyle/>
          <a:p>
            <a:r>
              <a:rPr lang="en-US" sz="3200" b="1" cap="all" dirty="0">
                <a:latin typeface="Arial"/>
                <a:cs typeface="Arial"/>
              </a:rPr>
              <a:t>Dashboard Deployment and Deployment :</a:t>
            </a:r>
            <a:endParaRPr lang="en-US" sz="32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699" y="1491916"/>
            <a:ext cx="11543486" cy="5013159"/>
          </a:xfrm>
        </p:spPr>
        <p:txBody>
          <a:bodyPr vert="horz" lIns="91440" tIns="45720" rIns="91440" bIns="45720" rtlCol="0">
            <a:normAutofit lnSpcReduction="10000"/>
          </a:bodyPr>
          <a:lstStyle/>
          <a:p>
            <a:pPr marL="0" indent="0">
              <a:spcBef>
                <a:spcPct val="20000"/>
              </a:spcBef>
              <a:spcAft>
                <a:spcPts val="600"/>
              </a:spcAft>
              <a:buNone/>
            </a:pPr>
            <a:r>
              <a:rPr lang="en-IN" sz="1600" dirty="0">
                <a:latin typeface="Franklin Gothic Book"/>
              </a:rPr>
              <a:t>The Dashboard Deployment and Development section </a:t>
            </a:r>
            <a:r>
              <a:rPr lang="en-US" sz="1800" dirty="0"/>
              <a:t>describes the process of building the Power BI dashboard from the dataset using data modeling, DAX, and visualizations and then publishing it to Power BI Service with security and interactive features enabled.</a:t>
            </a:r>
            <a:endParaRPr lang="en-IN" sz="1600" dirty="0">
              <a:latin typeface="Franklin Gothic Book"/>
            </a:endParaRPr>
          </a:p>
          <a:p>
            <a:pPr marL="305435" indent="-305435">
              <a:spcBef>
                <a:spcPct val="20000"/>
              </a:spcBef>
              <a:spcAft>
                <a:spcPts val="600"/>
              </a:spcAft>
              <a:buFont typeface="Arial"/>
              <a:buChar char="•"/>
            </a:pPr>
            <a:r>
              <a:rPr lang="en-IN" sz="1800" b="1" dirty="0"/>
              <a:t>Data </a:t>
            </a:r>
            <a:r>
              <a:rPr lang="en-IN" sz="1800" b="1" dirty="0" err="1"/>
              <a:t>Modeling</a:t>
            </a:r>
            <a:r>
              <a:rPr lang="en-IN" sz="1800" b="1" dirty="0"/>
              <a:t> :</a:t>
            </a:r>
          </a:p>
          <a:p>
            <a:pPr marL="0" indent="0">
              <a:spcBef>
                <a:spcPct val="20000"/>
              </a:spcBef>
              <a:spcAft>
                <a:spcPts val="600"/>
              </a:spcAft>
              <a:buNone/>
            </a:pPr>
            <a:r>
              <a:rPr lang="en-IN" sz="1800" b="1" dirty="0"/>
              <a:t>        - </a:t>
            </a:r>
            <a:r>
              <a:rPr lang="en-IN" sz="1800" dirty="0"/>
              <a:t>used </a:t>
            </a:r>
            <a:r>
              <a:rPr lang="en-IN" sz="1800" b="1" dirty="0"/>
              <a:t>Star-schema</a:t>
            </a:r>
            <a:r>
              <a:rPr lang="en-IN" sz="1800" dirty="0"/>
              <a:t> design for optimized performance and scalability.</a:t>
            </a:r>
            <a:endParaRPr lang="en-IN" sz="1600" dirty="0">
              <a:latin typeface="Franklin Gothic Book"/>
            </a:endParaRPr>
          </a:p>
          <a:p>
            <a:pPr marL="305435" indent="-305435">
              <a:spcBef>
                <a:spcPct val="20000"/>
              </a:spcBef>
              <a:spcAft>
                <a:spcPts val="600"/>
              </a:spcAft>
              <a:buFont typeface="Arial"/>
              <a:buChar char="•"/>
            </a:pPr>
            <a:r>
              <a:rPr lang="en-IN" sz="1800" b="1" dirty="0">
                <a:latin typeface="Franklin Gothic Book"/>
              </a:rPr>
              <a:t>Data Input :</a:t>
            </a:r>
          </a:p>
          <a:p>
            <a:pPr marL="324485" lvl="1" indent="0">
              <a:spcBef>
                <a:spcPct val="20000"/>
              </a:spcBef>
              <a:spcAft>
                <a:spcPts val="600"/>
              </a:spcAft>
              <a:buNone/>
            </a:pPr>
            <a:r>
              <a:rPr lang="en-US" sz="1800" b="1" dirty="0"/>
              <a:t>- </a:t>
            </a:r>
            <a:r>
              <a:rPr lang="en-US" sz="1800" dirty="0"/>
              <a:t>Country, Year, Threat Type, Attack Vector, Affected Industry, Financial Impact ($M), Severity Level, Response Time (Hours) </a:t>
            </a:r>
            <a:r>
              <a:rPr lang="en-US" sz="1800" dirty="0" err="1"/>
              <a:t>etc</a:t>
            </a:r>
            <a:r>
              <a:rPr lang="en-IN" sz="1600" dirty="0">
                <a:latin typeface="Franklin Gothic Book"/>
              </a:rPr>
              <a:t>.</a:t>
            </a:r>
          </a:p>
          <a:p>
            <a:pPr marL="305435" indent="-305435">
              <a:spcBef>
                <a:spcPct val="20000"/>
              </a:spcBef>
              <a:spcAft>
                <a:spcPts val="600"/>
              </a:spcAft>
              <a:buFont typeface="Arial"/>
              <a:buChar char="•"/>
            </a:pPr>
            <a:r>
              <a:rPr lang="en-IN" sz="1800" b="1" dirty="0"/>
              <a:t>Development Process :</a:t>
            </a:r>
            <a:endParaRPr lang="en-IN" sz="1600" b="1" dirty="0">
              <a:latin typeface="Franklin Gothic Book"/>
            </a:endParaRPr>
          </a:p>
          <a:p>
            <a:pPr marL="324485" lvl="1" indent="0">
              <a:spcBef>
                <a:spcPct val="20000"/>
              </a:spcBef>
              <a:spcAft>
                <a:spcPts val="600"/>
              </a:spcAft>
              <a:buNone/>
            </a:pPr>
            <a:r>
              <a:rPr lang="en-IN" sz="1600" dirty="0">
                <a:latin typeface="Franklin Gothic Book"/>
              </a:rPr>
              <a:t>- </a:t>
            </a:r>
            <a:r>
              <a:rPr lang="en-US" sz="1800" dirty="0"/>
              <a:t>Data import, cleaning and build Relationships in Power Query</a:t>
            </a:r>
            <a:r>
              <a:rPr lang="en-IN" sz="1600" dirty="0">
                <a:latin typeface="Franklin Gothic Book"/>
              </a:rPr>
              <a:t>.</a:t>
            </a:r>
            <a:br>
              <a:rPr lang="en-IN" sz="1600" dirty="0">
                <a:latin typeface="Franklin Gothic Book"/>
              </a:rPr>
            </a:br>
            <a:r>
              <a:rPr lang="en-IN" sz="1600" dirty="0">
                <a:latin typeface="Franklin Gothic Book"/>
              </a:rPr>
              <a:t>- creating </a:t>
            </a:r>
            <a:r>
              <a:rPr lang="en-US" sz="1800" b="1" dirty="0"/>
              <a:t>DAX</a:t>
            </a:r>
            <a:r>
              <a:rPr lang="en-US" sz="1800" dirty="0"/>
              <a:t> measures for </a:t>
            </a:r>
            <a:r>
              <a:rPr lang="en-US" sz="1800" b="1" dirty="0"/>
              <a:t>KPIs</a:t>
            </a:r>
            <a:r>
              <a:rPr lang="en-US" sz="1800" dirty="0"/>
              <a:t> (Total Attacks, Total Loss, YoY Growth %, Critical Attacks %).</a:t>
            </a:r>
            <a:br>
              <a:rPr lang="en-US" sz="1800" dirty="0"/>
            </a:br>
            <a:r>
              <a:rPr lang="en-US" sz="1800" dirty="0"/>
              <a:t>- Design of 4 interactive pages with slicers, drill-through, bookmarks, and custom theme.</a:t>
            </a:r>
            <a:endParaRPr lang="en-IN" sz="1600" dirty="0">
              <a:latin typeface="Franklin Gothic Book"/>
            </a:endParaRPr>
          </a:p>
          <a:p>
            <a:pPr marL="305435" indent="-305435">
              <a:spcBef>
                <a:spcPct val="20000"/>
              </a:spcBef>
              <a:spcAft>
                <a:spcPts val="600"/>
              </a:spcAft>
              <a:buFont typeface="Arial"/>
              <a:buChar char="•"/>
            </a:pPr>
            <a:r>
              <a:rPr lang="en-IN" sz="1800" b="1" dirty="0"/>
              <a:t>Deployment Process :</a:t>
            </a:r>
            <a:endParaRPr lang="en-IN" sz="1600" b="1" dirty="0">
              <a:latin typeface="Franklin Gothic Book"/>
            </a:endParaRPr>
          </a:p>
          <a:p>
            <a:pPr marL="324485" lvl="1" indent="0">
              <a:spcBef>
                <a:spcPct val="20000"/>
              </a:spcBef>
              <a:spcAft>
                <a:spcPts val="600"/>
              </a:spcAft>
              <a:buNone/>
            </a:pPr>
            <a:r>
              <a:rPr lang="en-IN" sz="1600" dirty="0">
                <a:latin typeface="Franklin Gothic Book"/>
              </a:rPr>
              <a:t>- </a:t>
            </a:r>
            <a:r>
              <a:rPr lang="en-US" sz="1800" dirty="0"/>
              <a:t>Published to </a:t>
            </a:r>
            <a:r>
              <a:rPr lang="en-US" sz="1800" b="1" dirty="0"/>
              <a:t>Power BI Service</a:t>
            </a:r>
            <a:r>
              <a:rPr lang="en-US" sz="1800" dirty="0"/>
              <a:t> (Shareable App)</a:t>
            </a:r>
            <a:r>
              <a:rPr lang="en-IN" sz="1600" dirty="0">
                <a:latin typeface="Franklin Gothic Book"/>
              </a:rPr>
              <a:t>.</a:t>
            </a:r>
            <a:br>
              <a:rPr lang="en-IN" sz="1600" dirty="0">
                <a:latin typeface="Franklin Gothic Book"/>
              </a:rPr>
            </a:br>
            <a:r>
              <a:rPr lang="en-IN" sz="1600" dirty="0">
                <a:latin typeface="Franklin Gothic Book"/>
              </a:rPr>
              <a:t>- </a:t>
            </a:r>
            <a:r>
              <a:rPr lang="en-IN" sz="1800" dirty="0"/>
              <a:t>Enabling natural language Q&amp;A.</a:t>
            </a:r>
            <a:br>
              <a:rPr lang="en-IN" sz="1800" dirty="0"/>
            </a:br>
            <a:r>
              <a:rPr lang="en-IN" sz="1800" dirty="0"/>
              <a:t>- </a:t>
            </a:r>
            <a:r>
              <a:rPr lang="en-US" sz="1800" dirty="0"/>
              <a:t>Enforcing </a:t>
            </a:r>
            <a:r>
              <a:rPr lang="en-US" sz="1800" b="1" dirty="0"/>
              <a:t>Row-Level Security</a:t>
            </a:r>
            <a:r>
              <a:rPr lang="en-US" sz="1800" dirty="0"/>
              <a:t> for controlled access.</a:t>
            </a:r>
            <a:endParaRPr lang="en-GB" sz="16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0" y="67267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209800" y="1335452"/>
            <a:ext cx="10515600" cy="750022"/>
          </a:xfrm>
        </p:spPr>
        <p:txBody>
          <a:bodyPr vert="horz" lIns="91440" tIns="45720" rIns="91440" bIns="45720" rtlCol="0">
            <a:normAutofit/>
          </a:bodyPr>
          <a:lstStyle/>
          <a:p>
            <a:pPr marL="0" indent="0">
              <a:buNone/>
            </a:pPr>
            <a:r>
              <a:rPr lang="en-US" sz="2000" dirty="0"/>
              <a:t>The Result section presents the </a:t>
            </a:r>
            <a:r>
              <a:rPr lang="en-US" sz="2000" b="1" dirty="0"/>
              <a:t>final Power BI dashboard outputs (screenshots) and the key insights derived from the cybersecurity attack data analysis.</a:t>
            </a:r>
            <a:endParaRPr lang="en-US" sz="2000" dirty="0"/>
          </a:p>
        </p:txBody>
      </p:sp>
      <p:sp>
        <p:nvSpPr>
          <p:cNvPr id="4" name="TextBox 3">
            <a:extLst>
              <a:ext uri="{FF2B5EF4-FFF2-40B4-BE49-F238E27FC236}">
                <a16:creationId xmlns:a16="http://schemas.microsoft.com/office/drawing/2014/main" id="{48E49A0F-F1EE-8F0B-8B0C-897B3ABFAF04}"/>
              </a:ext>
            </a:extLst>
          </p:cNvPr>
          <p:cNvSpPr txBox="1"/>
          <p:nvPr/>
        </p:nvSpPr>
        <p:spPr>
          <a:xfrm>
            <a:off x="209800" y="2260905"/>
            <a:ext cx="7676147" cy="400110"/>
          </a:xfrm>
          <a:prstGeom prst="rect">
            <a:avLst/>
          </a:prstGeom>
          <a:noFill/>
        </p:spPr>
        <p:txBody>
          <a:bodyPr wrap="square" rtlCol="0">
            <a:spAutoFit/>
          </a:bodyPr>
          <a:lstStyle/>
          <a:p>
            <a:pPr marL="285750" indent="-285750">
              <a:buFont typeface="Arial" panose="020B0604020202020204" pitchFamily="34" charset="0"/>
              <a:buChar char="•"/>
            </a:pPr>
            <a:r>
              <a:rPr lang="en-IN" sz="2000" b="1" dirty="0"/>
              <a:t>Visual Deliverables :</a:t>
            </a:r>
          </a:p>
        </p:txBody>
      </p:sp>
      <p:pic>
        <p:nvPicPr>
          <p:cNvPr id="6" name="Picture 5">
            <a:extLst>
              <a:ext uri="{FF2B5EF4-FFF2-40B4-BE49-F238E27FC236}">
                <a16:creationId xmlns:a16="http://schemas.microsoft.com/office/drawing/2014/main" id="{310208E4-70E2-2B7F-EFE6-9476FE341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262" y="2819826"/>
            <a:ext cx="5101706" cy="3365504"/>
          </a:xfrm>
          <a:prstGeom prst="rect">
            <a:avLst/>
          </a:prstGeom>
        </p:spPr>
      </p:pic>
      <p:pic>
        <p:nvPicPr>
          <p:cNvPr id="8" name="Picture 7">
            <a:extLst>
              <a:ext uri="{FF2B5EF4-FFF2-40B4-BE49-F238E27FC236}">
                <a16:creationId xmlns:a16="http://schemas.microsoft.com/office/drawing/2014/main" id="{3DA60023-2EBB-88A4-EC8B-FC70E71129C6}"/>
              </a:ext>
            </a:extLst>
          </p:cNvPr>
          <p:cNvPicPr>
            <a:picLocks noChangeAspect="1"/>
          </p:cNvPicPr>
          <p:nvPr/>
        </p:nvPicPr>
        <p:blipFill>
          <a:blip r:embed="rId3"/>
          <a:stretch>
            <a:fillRect/>
          </a:stretch>
        </p:blipFill>
        <p:spPr>
          <a:xfrm>
            <a:off x="6260737" y="2808724"/>
            <a:ext cx="5169263" cy="3376606"/>
          </a:xfrm>
          <a:prstGeom prst="rect">
            <a:avLst/>
          </a:prstGeom>
        </p:spPr>
      </p:pic>
      <p:sp>
        <p:nvSpPr>
          <p:cNvPr id="9" name="TextBox 8">
            <a:extLst>
              <a:ext uri="{FF2B5EF4-FFF2-40B4-BE49-F238E27FC236}">
                <a16:creationId xmlns:a16="http://schemas.microsoft.com/office/drawing/2014/main" id="{3999C46D-4102-EA92-B0EB-F0CF6184B208}"/>
              </a:ext>
            </a:extLst>
          </p:cNvPr>
          <p:cNvSpPr txBox="1"/>
          <p:nvPr/>
        </p:nvSpPr>
        <p:spPr>
          <a:xfrm>
            <a:off x="1884948" y="6248400"/>
            <a:ext cx="2094869" cy="369332"/>
          </a:xfrm>
          <a:prstGeom prst="rect">
            <a:avLst/>
          </a:prstGeom>
          <a:noFill/>
        </p:spPr>
        <p:txBody>
          <a:bodyPr wrap="none" rtlCol="0">
            <a:spAutoFit/>
          </a:bodyPr>
          <a:lstStyle/>
          <a:p>
            <a:r>
              <a:rPr lang="en-IN" dirty="0"/>
              <a:t>Picture 1: Overview</a:t>
            </a:r>
          </a:p>
        </p:txBody>
      </p:sp>
      <p:sp>
        <p:nvSpPr>
          <p:cNvPr id="10" name="TextBox 9">
            <a:extLst>
              <a:ext uri="{FF2B5EF4-FFF2-40B4-BE49-F238E27FC236}">
                <a16:creationId xmlns:a16="http://schemas.microsoft.com/office/drawing/2014/main" id="{4D45E2E5-5174-1097-98D4-1C3445167540}"/>
              </a:ext>
            </a:extLst>
          </p:cNvPr>
          <p:cNvSpPr txBox="1"/>
          <p:nvPr/>
        </p:nvSpPr>
        <p:spPr>
          <a:xfrm>
            <a:off x="7002379" y="6248400"/>
            <a:ext cx="3378425" cy="369332"/>
          </a:xfrm>
          <a:prstGeom prst="rect">
            <a:avLst/>
          </a:prstGeom>
          <a:noFill/>
        </p:spPr>
        <p:txBody>
          <a:bodyPr wrap="none" rtlCol="0">
            <a:spAutoFit/>
          </a:bodyPr>
          <a:lstStyle/>
          <a:p>
            <a:r>
              <a:rPr lang="en-IN" dirty="0"/>
              <a:t>Picture 2 : Geographical Insights</a:t>
            </a:r>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5B2C48-C5C5-B42D-4D99-9858970B2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5E05D-5042-8A8B-EFA2-B2FE90D503E9}"/>
              </a:ext>
            </a:extLst>
          </p:cNvPr>
          <p:cNvSpPr>
            <a:spLocks noGrp="1"/>
          </p:cNvSpPr>
          <p:nvPr>
            <p:ph type="title"/>
          </p:nvPr>
        </p:nvSpPr>
        <p:spPr>
          <a:xfrm>
            <a:off x="80210" y="714345"/>
            <a:ext cx="10515600" cy="1134488"/>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4" name="TextBox 3">
            <a:extLst>
              <a:ext uri="{FF2B5EF4-FFF2-40B4-BE49-F238E27FC236}">
                <a16:creationId xmlns:a16="http://schemas.microsoft.com/office/drawing/2014/main" id="{4BC46299-DC60-FD05-9E5A-3140C6A2EFE6}"/>
              </a:ext>
            </a:extLst>
          </p:cNvPr>
          <p:cNvSpPr txBox="1"/>
          <p:nvPr/>
        </p:nvSpPr>
        <p:spPr>
          <a:xfrm>
            <a:off x="173827" y="1448723"/>
            <a:ext cx="7676147" cy="400110"/>
          </a:xfrm>
          <a:prstGeom prst="rect">
            <a:avLst/>
          </a:prstGeom>
          <a:noFill/>
        </p:spPr>
        <p:txBody>
          <a:bodyPr wrap="square" rtlCol="0">
            <a:spAutoFit/>
          </a:bodyPr>
          <a:lstStyle/>
          <a:p>
            <a:pPr marL="285750" indent="-285750">
              <a:buFont typeface="Arial" panose="020B0604020202020204" pitchFamily="34" charset="0"/>
              <a:buChar char="•"/>
            </a:pPr>
            <a:r>
              <a:rPr lang="en-IN" sz="2000" b="1" dirty="0"/>
              <a:t>Visual Deliverables :</a:t>
            </a:r>
          </a:p>
        </p:txBody>
      </p:sp>
      <p:sp>
        <p:nvSpPr>
          <p:cNvPr id="9" name="TextBox 8">
            <a:extLst>
              <a:ext uri="{FF2B5EF4-FFF2-40B4-BE49-F238E27FC236}">
                <a16:creationId xmlns:a16="http://schemas.microsoft.com/office/drawing/2014/main" id="{6A5E9096-B2D1-2184-A3C1-B64067E630B0}"/>
              </a:ext>
            </a:extLst>
          </p:cNvPr>
          <p:cNvSpPr txBox="1"/>
          <p:nvPr/>
        </p:nvSpPr>
        <p:spPr>
          <a:xfrm>
            <a:off x="1483895" y="5702790"/>
            <a:ext cx="2984535" cy="369332"/>
          </a:xfrm>
          <a:prstGeom prst="rect">
            <a:avLst/>
          </a:prstGeom>
          <a:noFill/>
        </p:spPr>
        <p:txBody>
          <a:bodyPr wrap="none" rtlCol="0">
            <a:spAutoFit/>
          </a:bodyPr>
          <a:lstStyle/>
          <a:p>
            <a:r>
              <a:rPr lang="en-IN" dirty="0"/>
              <a:t>Picture 3: Industrial Impacts</a:t>
            </a:r>
          </a:p>
        </p:txBody>
      </p:sp>
      <p:sp>
        <p:nvSpPr>
          <p:cNvPr id="10" name="TextBox 9">
            <a:extLst>
              <a:ext uri="{FF2B5EF4-FFF2-40B4-BE49-F238E27FC236}">
                <a16:creationId xmlns:a16="http://schemas.microsoft.com/office/drawing/2014/main" id="{A6C4B81C-88EE-EA25-DC71-411B40DC7910}"/>
              </a:ext>
            </a:extLst>
          </p:cNvPr>
          <p:cNvSpPr txBox="1"/>
          <p:nvPr/>
        </p:nvSpPr>
        <p:spPr>
          <a:xfrm>
            <a:off x="6961190" y="5702790"/>
            <a:ext cx="4327660" cy="369332"/>
          </a:xfrm>
          <a:prstGeom prst="rect">
            <a:avLst/>
          </a:prstGeom>
          <a:noFill/>
        </p:spPr>
        <p:txBody>
          <a:bodyPr wrap="none" rtlCol="0">
            <a:spAutoFit/>
          </a:bodyPr>
          <a:lstStyle/>
          <a:p>
            <a:r>
              <a:rPr lang="en-IN" dirty="0"/>
              <a:t>Picture 4: Attack Types and Vulnerabilities</a:t>
            </a:r>
          </a:p>
        </p:txBody>
      </p:sp>
      <p:sp>
        <p:nvSpPr>
          <p:cNvPr id="7" name="Content Placeholder 6">
            <a:extLst>
              <a:ext uri="{FF2B5EF4-FFF2-40B4-BE49-F238E27FC236}">
                <a16:creationId xmlns:a16="http://schemas.microsoft.com/office/drawing/2014/main" id="{9B6F3E8E-D3C0-CFD6-A853-1123985C248F}"/>
              </a:ext>
            </a:extLst>
          </p:cNvPr>
          <p:cNvSpPr>
            <a:spLocks noGrp="1"/>
          </p:cNvSpPr>
          <p:nvPr>
            <p:ph idx="1"/>
          </p:nvPr>
        </p:nvSpPr>
        <p:spPr/>
        <p:txBody>
          <a:bodyPr/>
          <a:lstStyle/>
          <a:p>
            <a:r>
              <a:rPr lang="en-IN" dirty="0"/>
              <a:t>        </a:t>
            </a:r>
          </a:p>
        </p:txBody>
      </p:sp>
      <p:pic>
        <p:nvPicPr>
          <p:cNvPr id="12" name="Picture 11">
            <a:extLst>
              <a:ext uri="{FF2B5EF4-FFF2-40B4-BE49-F238E27FC236}">
                <a16:creationId xmlns:a16="http://schemas.microsoft.com/office/drawing/2014/main" id="{8D403AA9-B213-74EA-CB60-B0E61834EB3C}"/>
              </a:ext>
            </a:extLst>
          </p:cNvPr>
          <p:cNvPicPr>
            <a:picLocks noChangeAspect="1"/>
          </p:cNvPicPr>
          <p:nvPr/>
        </p:nvPicPr>
        <p:blipFill>
          <a:blip r:embed="rId2"/>
          <a:stretch>
            <a:fillRect/>
          </a:stretch>
        </p:blipFill>
        <p:spPr>
          <a:xfrm>
            <a:off x="269389" y="2262930"/>
            <a:ext cx="5636378" cy="3303682"/>
          </a:xfrm>
          <a:prstGeom prst="rect">
            <a:avLst/>
          </a:prstGeom>
        </p:spPr>
      </p:pic>
      <p:pic>
        <p:nvPicPr>
          <p:cNvPr id="14" name="Picture 13">
            <a:extLst>
              <a:ext uri="{FF2B5EF4-FFF2-40B4-BE49-F238E27FC236}">
                <a16:creationId xmlns:a16="http://schemas.microsoft.com/office/drawing/2014/main" id="{CC5203CD-A75F-39AF-0AB8-8460BEDB2715}"/>
              </a:ext>
            </a:extLst>
          </p:cNvPr>
          <p:cNvPicPr>
            <a:picLocks noChangeAspect="1"/>
          </p:cNvPicPr>
          <p:nvPr/>
        </p:nvPicPr>
        <p:blipFill>
          <a:blip r:embed="rId3"/>
          <a:stretch>
            <a:fillRect/>
          </a:stretch>
        </p:blipFill>
        <p:spPr>
          <a:xfrm>
            <a:off x="6163203" y="2262930"/>
            <a:ext cx="5884148" cy="3303682"/>
          </a:xfrm>
          <a:prstGeom prst="rect">
            <a:avLst/>
          </a:prstGeom>
        </p:spPr>
      </p:pic>
    </p:spTree>
    <p:extLst>
      <p:ext uri="{BB962C8B-B14F-4D97-AF65-F5344CB8AC3E}">
        <p14:creationId xmlns:p14="http://schemas.microsoft.com/office/powerpoint/2010/main" val="1612306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59C960-3D26-7459-EF1F-AD21FD5BA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54D09-A2BE-57A1-0BE3-46602685A6F1}"/>
              </a:ext>
            </a:extLst>
          </p:cNvPr>
          <p:cNvSpPr>
            <a:spLocks noGrp="1"/>
          </p:cNvSpPr>
          <p:nvPr>
            <p:ph type="title"/>
          </p:nvPr>
        </p:nvSpPr>
        <p:spPr>
          <a:xfrm>
            <a:off x="0" y="723325"/>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4" name="TextBox 3">
            <a:extLst>
              <a:ext uri="{FF2B5EF4-FFF2-40B4-BE49-F238E27FC236}">
                <a16:creationId xmlns:a16="http://schemas.microsoft.com/office/drawing/2014/main" id="{E84888B2-9034-134F-AFE7-183D115F56F7}"/>
              </a:ext>
            </a:extLst>
          </p:cNvPr>
          <p:cNvSpPr txBox="1"/>
          <p:nvPr/>
        </p:nvSpPr>
        <p:spPr>
          <a:xfrm>
            <a:off x="141743" y="1434736"/>
            <a:ext cx="7676147" cy="400110"/>
          </a:xfrm>
          <a:prstGeom prst="rect">
            <a:avLst/>
          </a:prstGeom>
          <a:noFill/>
        </p:spPr>
        <p:txBody>
          <a:bodyPr wrap="square" rtlCol="0">
            <a:spAutoFit/>
          </a:bodyPr>
          <a:lstStyle/>
          <a:p>
            <a:pPr marL="285750" indent="-285750">
              <a:buFont typeface="Arial" panose="020B0604020202020204" pitchFamily="34" charset="0"/>
              <a:buChar char="•"/>
            </a:pPr>
            <a:r>
              <a:rPr lang="en-IN" sz="2000" b="1" dirty="0"/>
              <a:t>Key Insights :</a:t>
            </a:r>
          </a:p>
        </p:txBody>
      </p:sp>
      <p:sp>
        <p:nvSpPr>
          <p:cNvPr id="7" name="Content Placeholder 6">
            <a:extLst>
              <a:ext uri="{FF2B5EF4-FFF2-40B4-BE49-F238E27FC236}">
                <a16:creationId xmlns:a16="http://schemas.microsoft.com/office/drawing/2014/main" id="{15C3CF1F-0F88-B6A8-D778-24F40F834826}"/>
              </a:ext>
            </a:extLst>
          </p:cNvPr>
          <p:cNvSpPr>
            <a:spLocks noGrp="1"/>
          </p:cNvSpPr>
          <p:nvPr>
            <p:ph idx="1"/>
          </p:nvPr>
        </p:nvSpPr>
        <p:spPr/>
        <p:txBody>
          <a:bodyPr/>
          <a:lstStyle/>
          <a:p>
            <a:r>
              <a:rPr lang="en-IN" dirty="0"/>
              <a:t>             </a:t>
            </a:r>
          </a:p>
        </p:txBody>
      </p:sp>
      <p:sp>
        <p:nvSpPr>
          <p:cNvPr id="5" name="TextBox 4">
            <a:extLst>
              <a:ext uri="{FF2B5EF4-FFF2-40B4-BE49-F238E27FC236}">
                <a16:creationId xmlns:a16="http://schemas.microsoft.com/office/drawing/2014/main" id="{7B365053-F7DF-F07F-934D-58D19ADCEA7C}"/>
              </a:ext>
            </a:extLst>
          </p:cNvPr>
          <p:cNvSpPr txBox="1"/>
          <p:nvPr/>
        </p:nvSpPr>
        <p:spPr>
          <a:xfrm>
            <a:off x="477927" y="2040800"/>
            <a:ext cx="7353423" cy="2631490"/>
          </a:xfrm>
          <a:prstGeom prst="rect">
            <a:avLst/>
          </a:prstGeom>
          <a:noFill/>
        </p:spPr>
        <p:txBody>
          <a:bodyPr wrap="none" rtlCol="0">
            <a:spAutoFit/>
          </a:bodyPr>
          <a:lstStyle/>
          <a:p>
            <a:pPr marL="305435" indent="-305435">
              <a:spcBef>
                <a:spcPct val="20000"/>
              </a:spcBef>
              <a:spcAft>
                <a:spcPts val="600"/>
              </a:spcAft>
              <a:buFont typeface="Arial"/>
              <a:buChar char="•"/>
            </a:pPr>
            <a:r>
              <a:rPr lang="en-IN" sz="2000" b="1" dirty="0"/>
              <a:t>Total Attacks:</a:t>
            </a:r>
            <a:r>
              <a:rPr lang="en-IN" sz="2000" dirty="0"/>
              <a:t> 2,500+</a:t>
            </a:r>
            <a:endParaRPr lang="en-IN" sz="2000" dirty="0">
              <a:latin typeface="Calibri"/>
              <a:ea typeface="Calibri"/>
              <a:cs typeface="Calibri"/>
            </a:endParaRPr>
          </a:p>
          <a:p>
            <a:pPr marL="305435" indent="-305435">
              <a:spcBef>
                <a:spcPct val="20000"/>
              </a:spcBef>
              <a:spcAft>
                <a:spcPts val="600"/>
              </a:spcAft>
              <a:buFont typeface="Arial"/>
              <a:buChar char="•"/>
            </a:pPr>
            <a:r>
              <a:rPr lang="en-US" sz="2000" b="1" dirty="0"/>
              <a:t>Total Financial Loss:</a:t>
            </a:r>
            <a:r>
              <a:rPr lang="en-US" sz="2000" dirty="0"/>
              <a:t> $889.6 Billion</a:t>
            </a:r>
            <a:endParaRPr lang="en-IN" sz="2000" dirty="0">
              <a:latin typeface="Calibri"/>
              <a:ea typeface="Calibri"/>
              <a:cs typeface="Calibri"/>
            </a:endParaRPr>
          </a:p>
          <a:p>
            <a:pPr marL="305435" indent="-305435">
              <a:spcBef>
                <a:spcPct val="20000"/>
              </a:spcBef>
              <a:spcAft>
                <a:spcPts val="600"/>
              </a:spcAft>
              <a:buFont typeface="Arial"/>
              <a:buChar char="•"/>
            </a:pPr>
            <a:r>
              <a:rPr lang="en-US" sz="2000" b="1" dirty="0"/>
              <a:t>Top Threats types:</a:t>
            </a:r>
            <a:r>
              <a:rPr lang="en-US" sz="2000" dirty="0"/>
              <a:t> Man-in-the-Middle, Phishing, Ransomware</a:t>
            </a:r>
          </a:p>
          <a:p>
            <a:pPr marL="305435" indent="-305435">
              <a:spcBef>
                <a:spcPct val="20000"/>
              </a:spcBef>
              <a:spcAft>
                <a:spcPts val="600"/>
              </a:spcAft>
              <a:buFont typeface="Arial"/>
              <a:buChar char="•"/>
            </a:pPr>
            <a:r>
              <a:rPr lang="en-US" sz="2000" b="1" dirty="0"/>
              <a:t>High-Risk Countries:</a:t>
            </a:r>
            <a:r>
              <a:rPr lang="en-US" sz="2000" dirty="0"/>
              <a:t> USA, China, India</a:t>
            </a:r>
          </a:p>
          <a:p>
            <a:pPr marL="305435" indent="-305435">
              <a:spcBef>
                <a:spcPct val="20000"/>
              </a:spcBef>
              <a:spcAft>
                <a:spcPts val="600"/>
              </a:spcAft>
              <a:buFont typeface="Arial"/>
              <a:buChar char="•"/>
            </a:pPr>
            <a:r>
              <a:rPr lang="en-US" sz="2000" b="1" dirty="0"/>
              <a:t>Top Affected Industries:</a:t>
            </a:r>
            <a:r>
              <a:rPr lang="en-US" sz="2000" dirty="0"/>
              <a:t> Finance &amp; Healthcare</a:t>
            </a:r>
          </a:p>
          <a:p>
            <a:pPr marL="305435" indent="-305435">
              <a:spcBef>
                <a:spcPct val="20000"/>
              </a:spcBef>
              <a:spcAft>
                <a:spcPts val="600"/>
              </a:spcAft>
              <a:buFont typeface="Arial"/>
              <a:buChar char="•"/>
            </a:pPr>
            <a:r>
              <a:rPr lang="en-US" sz="2000" b="1" dirty="0"/>
              <a:t>Avg. Response Time:</a:t>
            </a:r>
            <a:r>
              <a:rPr lang="en-US" sz="2000" dirty="0"/>
              <a:t> 45 hours</a:t>
            </a:r>
            <a:endParaRPr lang="en-IN" sz="2000" b="1" dirty="0">
              <a:latin typeface="Calibri"/>
              <a:ea typeface="Calibri"/>
              <a:cs typeface="Calibri"/>
            </a:endParaRPr>
          </a:p>
        </p:txBody>
      </p:sp>
    </p:spTree>
    <p:extLst>
      <p:ext uri="{BB962C8B-B14F-4D97-AF65-F5344CB8AC3E}">
        <p14:creationId xmlns:p14="http://schemas.microsoft.com/office/powerpoint/2010/main" val="229768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0" y="663999"/>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4" name="Rectangle 1">
            <a:extLst>
              <a:ext uri="{FF2B5EF4-FFF2-40B4-BE49-F238E27FC236}">
                <a16:creationId xmlns:a16="http://schemas.microsoft.com/office/drawing/2014/main" id="{F80F3A40-DDA9-B83A-E8FD-F36DD4734A70}"/>
              </a:ext>
            </a:extLst>
          </p:cNvPr>
          <p:cNvSpPr>
            <a:spLocks noGrp="1" noChangeArrowheads="1"/>
          </p:cNvSpPr>
          <p:nvPr>
            <p:ph idx="1"/>
          </p:nvPr>
        </p:nvSpPr>
        <p:spPr bwMode="auto">
          <a:xfrm>
            <a:off x="470485" y="1235581"/>
            <a:ext cx="10320454" cy="4386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05435" indent="-305435">
              <a:spcBef>
                <a:spcPct val="20000"/>
              </a:spcBef>
              <a:spcAft>
                <a:spcPts val="600"/>
              </a:spcAft>
              <a:buFont typeface="Arial"/>
              <a:buChar char="•"/>
            </a:pPr>
            <a:r>
              <a:rPr lang="en-IN" sz="2000" b="1" dirty="0"/>
              <a:t>Achievement :</a:t>
            </a:r>
            <a:r>
              <a:rPr lang="en-IN" sz="2000" dirty="0"/>
              <a:t> </a:t>
            </a:r>
          </a:p>
          <a:p>
            <a:pPr marL="0" indent="0">
              <a:spcBef>
                <a:spcPct val="20000"/>
              </a:spcBef>
              <a:spcAft>
                <a:spcPts val="600"/>
              </a:spcAft>
              <a:buNone/>
            </a:pPr>
            <a:r>
              <a:rPr lang="en-IN" sz="2000" dirty="0">
                <a:latin typeface="Calibri"/>
                <a:ea typeface="Calibri"/>
                <a:cs typeface="Calibri"/>
              </a:rPr>
              <a:t>      -  </a:t>
            </a:r>
            <a:r>
              <a:rPr lang="en-US" sz="2000" dirty="0"/>
              <a:t>Transformed complex threat data into a clear, interactive visual platform.</a:t>
            </a:r>
            <a:br>
              <a:rPr lang="en-US" sz="2000" dirty="0"/>
            </a:br>
            <a:r>
              <a:rPr lang="en-US" sz="2000" dirty="0"/>
              <a:t>      </a:t>
            </a:r>
            <a:r>
              <a:rPr lang="en-IN" sz="2000" dirty="0">
                <a:latin typeface="Calibri"/>
                <a:ea typeface="Calibri"/>
                <a:cs typeface="Calibri"/>
              </a:rPr>
              <a:t>-   </a:t>
            </a:r>
            <a:r>
              <a:rPr lang="en-US" sz="2000" dirty="0"/>
              <a:t>Implementation of </a:t>
            </a:r>
            <a:r>
              <a:rPr lang="en-US" sz="2000" b="1" dirty="0"/>
              <a:t>advanced Power BI visualizations</a:t>
            </a:r>
            <a:br>
              <a:rPr lang="en-US" sz="2000" b="1" dirty="0"/>
            </a:br>
            <a:r>
              <a:rPr lang="en-US" sz="2000" dirty="0"/>
              <a:t>      </a:t>
            </a:r>
            <a:r>
              <a:rPr lang="en-US" sz="2000" dirty="0">
                <a:latin typeface="Calibri"/>
                <a:ea typeface="Calibri"/>
                <a:cs typeface="Calibri"/>
              </a:rPr>
              <a:t>-   </a:t>
            </a:r>
            <a:r>
              <a:rPr lang="en-IN" sz="2000" dirty="0"/>
              <a:t>Analytical calculations using </a:t>
            </a:r>
            <a:r>
              <a:rPr lang="en-IN" sz="2000" b="1" dirty="0"/>
              <a:t>DAX</a:t>
            </a:r>
            <a:br>
              <a:rPr lang="en-IN" sz="2000" b="1" dirty="0"/>
            </a:br>
            <a:r>
              <a:rPr lang="en-IN" sz="2000" dirty="0"/>
              <a:t>      -   </a:t>
            </a:r>
            <a:r>
              <a:rPr lang="en-US" sz="2000" dirty="0"/>
              <a:t>Data security using </a:t>
            </a:r>
            <a:r>
              <a:rPr lang="en-US" sz="2000" b="1" dirty="0"/>
              <a:t>Row-Level Security</a:t>
            </a:r>
            <a:br>
              <a:rPr lang="en-US" sz="2000" b="1" dirty="0"/>
            </a:br>
            <a:r>
              <a:rPr lang="en-US" sz="2000" b="1" dirty="0"/>
              <a:t>      </a:t>
            </a:r>
            <a:r>
              <a:rPr lang="en-US" sz="2000" dirty="0"/>
              <a:t>-   Creation of </a:t>
            </a:r>
            <a:r>
              <a:rPr lang="en-US" sz="2000" b="1" dirty="0"/>
              <a:t>professional cybersecurity analytics dashboard.</a:t>
            </a:r>
            <a:endParaRPr lang="en-IN" sz="2000" dirty="0">
              <a:latin typeface="Calibri"/>
              <a:ea typeface="Calibri"/>
              <a:cs typeface="Calibri"/>
            </a:endParaRPr>
          </a:p>
          <a:p>
            <a:pPr marL="305435" indent="-305435">
              <a:spcBef>
                <a:spcPct val="20000"/>
              </a:spcBef>
              <a:spcAft>
                <a:spcPts val="600"/>
              </a:spcAft>
              <a:buFont typeface="Arial"/>
              <a:buChar char="•"/>
            </a:pPr>
            <a:r>
              <a:rPr lang="en-IN" sz="2000" b="1" dirty="0"/>
              <a:t>Business Value : </a:t>
            </a:r>
            <a:endParaRPr lang="en-IN" sz="2000" dirty="0"/>
          </a:p>
          <a:p>
            <a:pPr marL="0" indent="0">
              <a:spcBef>
                <a:spcPct val="20000"/>
              </a:spcBef>
              <a:spcAft>
                <a:spcPts val="600"/>
              </a:spcAft>
              <a:buNone/>
            </a:pPr>
            <a:r>
              <a:rPr lang="en-IN" sz="2000" dirty="0">
                <a:latin typeface="Calibri"/>
                <a:ea typeface="Calibri"/>
                <a:cs typeface="Calibri"/>
              </a:rPr>
              <a:t>      - </a:t>
            </a:r>
            <a:r>
              <a:rPr lang="en-US" sz="2000" dirty="0"/>
              <a:t>Enhances threat awareness, trend analysis, and strategic decision-making.</a:t>
            </a:r>
            <a:endParaRPr lang="en-IN" sz="2000" b="1" dirty="0"/>
          </a:p>
          <a:p>
            <a:pPr marL="305435" indent="-305435">
              <a:spcBef>
                <a:spcPct val="20000"/>
              </a:spcBef>
              <a:spcAft>
                <a:spcPts val="600"/>
              </a:spcAft>
              <a:buFont typeface="Arial"/>
              <a:buChar char="•"/>
            </a:pPr>
            <a:r>
              <a:rPr lang="en-IN" sz="2000" b="1" dirty="0"/>
              <a:t>Technical Success :</a:t>
            </a:r>
          </a:p>
          <a:p>
            <a:pPr marL="0" indent="0">
              <a:spcBef>
                <a:spcPct val="20000"/>
              </a:spcBef>
              <a:spcAft>
                <a:spcPts val="600"/>
              </a:spcAft>
              <a:buNone/>
            </a:pPr>
            <a:r>
              <a:rPr lang="en-IN" sz="2000" dirty="0">
                <a:latin typeface="Calibri"/>
                <a:ea typeface="Calibri"/>
                <a:cs typeface="Calibri"/>
              </a:rPr>
              <a:t>      - </a:t>
            </a:r>
            <a:r>
              <a:rPr lang="en-US" sz="2000" dirty="0"/>
              <a:t>Effectively resolved data standardization challenges using Power BI, DAX, and RLS.</a:t>
            </a:r>
          </a:p>
          <a:p>
            <a:pPr marL="305435" indent="-305435">
              <a:spcBef>
                <a:spcPct val="20000"/>
              </a:spcBef>
              <a:spcAft>
                <a:spcPts val="600"/>
              </a:spcAft>
              <a:buFont typeface="Arial"/>
              <a:buChar char="•"/>
            </a:pPr>
            <a:r>
              <a:rPr lang="en-IN" sz="2000" b="1" dirty="0"/>
              <a:t>Impact :</a:t>
            </a:r>
          </a:p>
          <a:p>
            <a:pPr marL="0" indent="0">
              <a:spcBef>
                <a:spcPct val="20000"/>
              </a:spcBef>
              <a:spcAft>
                <a:spcPts val="600"/>
              </a:spcAft>
              <a:buNone/>
            </a:pPr>
            <a:r>
              <a:rPr lang="en-IN" sz="2000" dirty="0">
                <a:latin typeface="Calibri"/>
                <a:ea typeface="Calibri"/>
                <a:cs typeface="Calibri"/>
              </a:rPr>
              <a:t>      - </a:t>
            </a:r>
            <a:r>
              <a:rPr lang="en-US" sz="2000" dirty="0"/>
              <a:t>Demonstrates the critical role </a:t>
            </a:r>
            <a:r>
              <a:rPr lang="en-US" sz="2000" b="1" dirty="0"/>
              <a:t>of data visualization in modern cybersecurity analysis</a:t>
            </a:r>
            <a:r>
              <a:rPr lang="en-US" sz="2000" dirty="0"/>
              <a:t>.</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127789" y="702587"/>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0" y="1745592"/>
            <a:ext cx="11466729" cy="4615103"/>
          </a:xfrm>
        </p:spPr>
        <p:txBody>
          <a:bodyPr vert="horz" lIns="91440" tIns="45720" rIns="91440" bIns="45720" rtlCol="0">
            <a:normAutofit/>
          </a:bodyPr>
          <a:lstStyle/>
          <a:p>
            <a:pPr marL="305435" indent="-305435">
              <a:lnSpc>
                <a:spcPct val="150000"/>
              </a:lnSpc>
              <a:spcBef>
                <a:spcPct val="20000"/>
              </a:spcBef>
              <a:spcAft>
                <a:spcPts val="600"/>
              </a:spcAft>
              <a:buFont typeface="Arial"/>
              <a:buChar char="•"/>
            </a:pPr>
            <a:r>
              <a:rPr lang="en-IN" sz="2000" b="1" dirty="0"/>
              <a:t>Live Integration : </a:t>
            </a:r>
            <a:r>
              <a:rPr lang="en-US" sz="2000" dirty="0"/>
              <a:t>Real-time threat monitoring via APIs.</a:t>
            </a:r>
            <a:endParaRPr lang="en-IN" sz="2000" b="1" dirty="0">
              <a:latin typeface="Calibri"/>
              <a:ea typeface="Calibri"/>
              <a:cs typeface="Calibri"/>
            </a:endParaRPr>
          </a:p>
          <a:p>
            <a:pPr marL="305435" indent="-305435">
              <a:lnSpc>
                <a:spcPct val="150000"/>
              </a:lnSpc>
              <a:spcBef>
                <a:spcPct val="20000"/>
              </a:spcBef>
              <a:spcAft>
                <a:spcPts val="600"/>
              </a:spcAft>
              <a:buFont typeface="Arial"/>
              <a:buChar char="•"/>
            </a:pPr>
            <a:r>
              <a:rPr lang="en-IN" sz="2000" b="1" dirty="0"/>
              <a:t>Predictive Analytics : </a:t>
            </a:r>
            <a:r>
              <a:rPr lang="en-US" sz="2000" dirty="0"/>
              <a:t>Machine learning models for attack forecasting.</a:t>
            </a:r>
            <a:endParaRPr lang="en-IN" sz="2000" dirty="0">
              <a:latin typeface="Calibri"/>
              <a:ea typeface="Calibri"/>
              <a:cs typeface="Calibri"/>
            </a:endParaRPr>
          </a:p>
          <a:p>
            <a:pPr marL="305435" indent="-305435">
              <a:lnSpc>
                <a:spcPct val="150000"/>
              </a:lnSpc>
              <a:spcBef>
                <a:spcPct val="20000"/>
              </a:spcBef>
              <a:spcAft>
                <a:spcPts val="600"/>
              </a:spcAft>
              <a:buFont typeface="Arial"/>
              <a:buChar char="•"/>
            </a:pPr>
            <a:r>
              <a:rPr lang="en-IN" sz="2000" b="1" dirty="0"/>
              <a:t>Scalability : </a:t>
            </a:r>
            <a:r>
              <a:rPr lang="en-US" sz="2000" dirty="0"/>
              <a:t>Global enterprise deployment and mobile optimization.</a:t>
            </a:r>
          </a:p>
          <a:p>
            <a:pPr marL="305435" indent="-305435">
              <a:lnSpc>
                <a:spcPct val="150000"/>
              </a:lnSpc>
              <a:spcBef>
                <a:spcPct val="20000"/>
              </a:spcBef>
              <a:spcAft>
                <a:spcPts val="600"/>
              </a:spcAft>
              <a:buFont typeface="Arial"/>
              <a:buChar char="•"/>
            </a:pPr>
            <a:r>
              <a:rPr lang="en-US" sz="2000" b="1" dirty="0"/>
              <a:t>Advanced AI:</a:t>
            </a:r>
            <a:r>
              <a:rPr lang="en-US" sz="2000" dirty="0"/>
              <a:t> Automated anomaly detection and alert generation</a:t>
            </a:r>
          </a:p>
          <a:p>
            <a:pPr marL="305435" indent="-305435">
              <a:lnSpc>
                <a:spcPct val="150000"/>
              </a:lnSpc>
              <a:spcBef>
                <a:spcPct val="20000"/>
              </a:spcBef>
              <a:spcAft>
                <a:spcPts val="600"/>
              </a:spcAft>
              <a:buFont typeface="Arial"/>
              <a:buChar char="•"/>
            </a:pPr>
            <a:r>
              <a:rPr lang="en-US" sz="2000" b="1" dirty="0"/>
              <a:t>Emerging Threats:</a:t>
            </a:r>
            <a:r>
              <a:rPr lang="en-US" sz="2000" dirty="0"/>
              <a:t> Tracking AI-generated attacks and quantum computing risks.</a:t>
            </a: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127788" y="710607"/>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1867408" cy="4251960"/>
          </a:xfrm>
        </p:spPr>
        <p:txBody>
          <a:bodyPr vert="horz" lIns="91440" tIns="45720" rIns="91440" bIns="45720" rtlCol="0" anchor="t">
            <a:normAutofit/>
          </a:bodyPr>
          <a:lstStyle/>
          <a:p>
            <a:pPr marL="0" indent="0">
              <a:buNone/>
            </a:pPr>
            <a:r>
              <a:rPr lang="en-US" sz="2400" dirty="0"/>
              <a:t>• </a:t>
            </a:r>
            <a:r>
              <a:rPr lang="en-US" sz="2000" b="1" dirty="0"/>
              <a:t>Dataset:</a:t>
            </a:r>
            <a:r>
              <a:rPr lang="en-US" sz="2000" dirty="0"/>
              <a:t> Kaggle - Global Cybersecurity Threats (2015-2024).</a:t>
            </a:r>
          </a:p>
          <a:p>
            <a:pPr marL="0" indent="0">
              <a:buNone/>
            </a:pPr>
            <a:r>
              <a:rPr lang="en-US" sz="2000" dirty="0">
                <a:solidFill>
                  <a:schemeClr val="accent1"/>
                </a:solidFill>
                <a:hlinkClick r:id="rId2">
                  <a:extLst>
                    <a:ext uri="{A12FA001-AC4F-418D-AE19-62706E023703}">
                      <ahyp:hlinkClr xmlns:ahyp="http://schemas.microsoft.com/office/drawing/2018/hyperlinkcolor" val="tx"/>
                    </a:ext>
                  </a:extLst>
                </a:hlinkClick>
              </a:rPr>
              <a:t>https://www.kaggle.com/datasets/atharvasoundankar/global-cybersecurity-threats-2015-2024</a:t>
            </a:r>
            <a:endParaRPr lang="en-US" sz="2000" dirty="0">
              <a:solidFill>
                <a:schemeClr val="accent1"/>
              </a:solidFill>
            </a:endParaRPr>
          </a:p>
          <a:p>
            <a:pPr marL="0" indent="0">
              <a:buNone/>
            </a:pPr>
            <a:r>
              <a:rPr lang="en-US" sz="2000" dirty="0"/>
              <a:t>• </a:t>
            </a:r>
            <a:r>
              <a:rPr lang="en-US" sz="2000" b="1" dirty="0"/>
              <a:t>Microsoft Power BI Documentation &amp; Learning Path:</a:t>
            </a:r>
            <a:r>
              <a:rPr lang="en-US" sz="2000" dirty="0"/>
              <a:t> </a:t>
            </a:r>
          </a:p>
          <a:p>
            <a:pPr marL="0" indent="0">
              <a:buNone/>
            </a:pPr>
            <a:r>
              <a:rPr lang="en-US" sz="2000" dirty="0">
                <a:solidFill>
                  <a:schemeClr val="accent1"/>
                </a:solidFill>
                <a:hlinkClick r:id="rId3">
                  <a:extLst>
                    <a:ext uri="{A12FA001-AC4F-418D-AE19-62706E023703}">
                      <ahyp:hlinkClr xmlns:ahyp="http://schemas.microsoft.com/office/drawing/2018/hyperlinkcolor" val="tx"/>
                    </a:ext>
                  </a:extLst>
                </a:hlinkClick>
              </a:rPr>
              <a:t>https://learn.microsoft.com/en-us/power-bi/</a:t>
            </a:r>
            <a:endParaRPr lang="en-US" sz="2000" dirty="0">
              <a:solidFill>
                <a:schemeClr val="accent1"/>
              </a:solidFill>
            </a:endParaRPr>
          </a:p>
          <a:p>
            <a:pPr marL="0" indent="0">
              <a:buNone/>
            </a:pPr>
            <a:r>
              <a:rPr lang="en-US" sz="2000" dirty="0"/>
              <a:t>•  </a:t>
            </a:r>
            <a:r>
              <a:rPr lang="en-US" sz="2000" b="1" dirty="0"/>
              <a:t>Drive Link: </a:t>
            </a:r>
          </a:p>
          <a:p>
            <a:pPr marL="0" indent="0">
              <a:buNone/>
            </a:pPr>
            <a:r>
              <a:rPr lang="en-US" sz="2000" dirty="0">
                <a:solidFill>
                  <a:srgbClr val="467886"/>
                </a:solidFill>
                <a:hlinkClick r:id="rId4">
                  <a:extLst>
                    <a:ext uri="{A12FA001-AC4F-418D-AE19-62706E023703}">
                      <ahyp:hlinkClr xmlns:ahyp="http://schemas.microsoft.com/office/drawing/2018/hyperlinkcolor" val="tx"/>
                    </a:ext>
                  </a:extLst>
                </a:hlinkClick>
              </a:rPr>
              <a:t>https</a:t>
            </a:r>
            <a:r>
              <a:rPr lang="en-US" sz="2000" dirty="0">
                <a:solidFill>
                  <a:schemeClr val="accent1"/>
                </a:solidFill>
                <a:hlinkClick r:id="rId4">
                  <a:extLst>
                    <a:ext uri="{A12FA001-AC4F-418D-AE19-62706E023703}">
                      <ahyp:hlinkClr xmlns:ahyp="http://schemas.microsoft.com/office/drawing/2018/hyperlinkcolor" val="tx"/>
                    </a:ext>
                  </a:extLst>
                </a:hlinkClick>
              </a:rPr>
              <a:t>://drive.google.com/drive/folders/17Bws-aiBggOd7uPMhQPIsc81S89qONZs?usp=sharing</a:t>
            </a:r>
            <a:endParaRPr lang="en-US" sz="2000" dirty="0">
              <a:solidFill>
                <a:schemeClr val="accent1"/>
              </a:solidFill>
            </a:endParaRPr>
          </a:p>
          <a:p>
            <a:pPr marL="0" indent="0">
              <a:buNone/>
            </a:pPr>
            <a:r>
              <a:rPr lang="en-US" sz="2000" dirty="0"/>
              <a:t>•  </a:t>
            </a:r>
            <a:r>
              <a:rPr lang="en-IN" sz="2000" b="1" dirty="0">
                <a:latin typeface="Franklin Gothic Book"/>
              </a:rPr>
              <a:t>GitHub Link</a:t>
            </a:r>
            <a:r>
              <a:rPr lang="en-US" sz="2000" b="1" dirty="0"/>
              <a:t>:</a:t>
            </a:r>
            <a:r>
              <a:rPr lang="en-IN" sz="2000" b="1" dirty="0">
                <a:solidFill>
                  <a:srgbClr val="0070C0"/>
                </a:solidFill>
                <a:latin typeface="Franklin Gothic Book"/>
              </a:rPr>
              <a:t> </a:t>
            </a:r>
            <a:endParaRPr lang="en-IN" sz="2000" b="1" u="sng" dirty="0">
              <a:solidFill>
                <a:srgbClr val="0070C0"/>
              </a:solidFill>
              <a:latin typeface="Franklin Gothic Book"/>
            </a:endParaRPr>
          </a:p>
          <a:p>
            <a:pPr marL="0" indent="0">
              <a:buNone/>
            </a:pPr>
            <a:r>
              <a:rPr lang="en-IN" sz="2000" u="sng" dirty="0">
                <a:solidFill>
                  <a:schemeClr val="accent1"/>
                </a:solidFill>
                <a:latin typeface="Franklin Gothic Book"/>
                <a:hlinkClick r:id="rId5">
                  <a:extLst>
                    <a:ext uri="{A12FA001-AC4F-418D-AE19-62706E023703}">
                      <ahyp:hlinkClr xmlns:ahyp="http://schemas.microsoft.com/office/drawing/2018/hyperlinkcolor" val="tx"/>
                    </a:ext>
                  </a:extLst>
                </a:hlinkClick>
              </a:rPr>
              <a:t>https://github.com/rahulbardhan/Cyber-Security-Threats-Analysis/tree/main</a:t>
            </a:r>
            <a:endParaRPr lang="en-IN" sz="2000" u="sng" dirty="0">
              <a:solidFill>
                <a:schemeClr val="accent1"/>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943</Words>
  <Application>Microsoft Office PowerPoint</Application>
  <PresentationFormat>Widescreen</PresentationFormat>
  <Paragraphs>111</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Development Approach:</vt:lpstr>
      <vt:lpstr>Dashboard Deployment and Deployment :</vt:lpstr>
      <vt:lpstr>Result: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Rahul Bardhan</cp:lastModifiedBy>
  <cp:revision>133</cp:revision>
  <dcterms:created xsi:type="dcterms:W3CDTF">2024-05-21T11:55:07Z</dcterms:created>
  <dcterms:modified xsi:type="dcterms:W3CDTF">2026-03-13T05:59:07Z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